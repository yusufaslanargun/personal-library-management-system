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45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7" r:id="rId11"/>
    <p:sldId id="266" r:id="rId12"/>
    <p:sldId id="264" r:id="rId13"/>
    <p:sldId id="269" r:id="rId14"/>
    <p:sldId id="265" r:id="rId15"/>
  </p:sldIdLst>
  <p:sldSz cx="14630400" cy="8229600"/>
  <p:notesSz cx="8229600" cy="146304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  <p:embeddedFont>
      <p:font typeface="Wingdings 3" panose="05040102010807070707" pitchFamily="18" charset="2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F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34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AC9F0-C1B5-933D-8D10-7E9FCE0E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45139-5C62-2FE4-8520-08520CAD9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189CE-A427-7C8A-4756-C2E0D0633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8615D-07C9-492C-883B-976929BBB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58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93AD1-A52D-A127-EF70-138DF5FFC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B87DD8-3D47-7F18-A963-984FE8073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EF9DF-4B57-5DEF-7803-7664803E0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BC1F6-5043-F88D-6CDC-19CADE3C13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08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2F839-41EF-2430-F60A-33A5F469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C17FB-CC26-03C3-6B94-550EE6B03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FB749-7DD5-CF15-FA30-446D246A7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CBFCF-2D7B-AC4C-CFAC-4C29ECD189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71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1054" y="822960"/>
            <a:ext cx="9601200" cy="3566161"/>
          </a:xfrm>
        </p:spPr>
        <p:txBody>
          <a:bodyPr anchor="b">
            <a:normAutofit/>
          </a:bodyPr>
          <a:lstStyle>
            <a:lvl1pPr algn="l">
              <a:defRPr sz="5760">
                <a:effectLst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1054" y="4612641"/>
            <a:ext cx="7680960" cy="2336800"/>
          </a:xfrm>
        </p:spPr>
        <p:txBody>
          <a:bodyPr anchor="t">
            <a:normAutofit/>
          </a:bodyPr>
          <a:lstStyle>
            <a:lvl1pPr marL="0" indent="0" algn="l">
              <a:buNone/>
              <a:defRPr sz="252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9873614" y="10160"/>
            <a:ext cx="4572000" cy="45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329805" y="109855"/>
            <a:ext cx="7296786" cy="72967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8682990" y="274320"/>
            <a:ext cx="5943600" cy="5943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8803005" y="38734"/>
            <a:ext cx="5823587" cy="5823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9414512" y="731522"/>
            <a:ext cx="5212079" cy="521207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4950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4545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4" y="2407920"/>
            <a:ext cx="10241281" cy="2737920"/>
          </a:xfrm>
        </p:spPr>
        <p:txBody>
          <a:bodyPr anchor="b">
            <a:normAutofit/>
          </a:bodyPr>
          <a:lstStyle>
            <a:lvl1pPr algn="l">
              <a:defRPr sz="432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6" y="5394960"/>
            <a:ext cx="10241280" cy="179832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0073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1054" y="822961"/>
            <a:ext cx="5925186" cy="4338320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69760" y="822961"/>
            <a:ext cx="5921375" cy="4338319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4228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6497" y="822960"/>
            <a:ext cx="5579744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1054" y="1524635"/>
            <a:ext cx="5925186" cy="3636646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4879" y="822960"/>
            <a:ext cx="5598161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854" y="1514474"/>
            <a:ext cx="5915026" cy="3636646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642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4746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75292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014" y="822960"/>
            <a:ext cx="4389120" cy="1645920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055" y="822960"/>
            <a:ext cx="7132321" cy="6370320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2014" y="2651760"/>
            <a:ext cx="4389120" cy="2509520"/>
          </a:xfrm>
        </p:spPr>
        <p:txBody>
          <a:bodyPr anchor="t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9886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374" y="1737360"/>
            <a:ext cx="7223760" cy="1371600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6814" y="1097280"/>
            <a:ext cx="3937169" cy="54864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7374" y="3332480"/>
            <a:ext cx="7225666" cy="2458720"/>
          </a:xfrm>
        </p:spPr>
        <p:txBody>
          <a:bodyPr anchor="t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355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822960" y="640080"/>
            <a:ext cx="12982574" cy="374904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2" y="4612640"/>
            <a:ext cx="9965052" cy="54864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92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017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6" y="822960"/>
            <a:ext cx="12070080" cy="3291840"/>
          </a:xfrm>
        </p:spPr>
        <p:txBody>
          <a:bodyPr anchor="ctr">
            <a:normAutofit/>
          </a:bodyPr>
          <a:lstStyle>
            <a:lvl1pPr algn="l">
              <a:defRPr sz="384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4937760"/>
            <a:ext cx="10243186" cy="225552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2649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4" y="822960"/>
            <a:ext cx="10972801" cy="3291840"/>
          </a:xfrm>
        </p:spPr>
        <p:txBody>
          <a:bodyPr anchor="ctr">
            <a:normAutofit/>
          </a:bodyPr>
          <a:lstStyle>
            <a:lvl1pPr algn="l">
              <a:defRPr sz="384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35454" y="4114800"/>
            <a:ext cx="10241280" cy="4572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6" y="5161281"/>
            <a:ext cx="10241280" cy="2021838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38174" y="9746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2494" y="3322321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847620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4" y="4114800"/>
            <a:ext cx="10241280" cy="2036880"/>
          </a:xfrm>
        </p:spPr>
        <p:txBody>
          <a:bodyPr anchor="b">
            <a:normAutofit/>
          </a:bodyPr>
          <a:lstStyle>
            <a:lvl1pPr algn="l">
              <a:defRPr sz="384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3" y="6159577"/>
            <a:ext cx="10243188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6952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6" y="822960"/>
            <a:ext cx="10972800" cy="3291840"/>
          </a:xfrm>
        </p:spPr>
        <p:txBody>
          <a:bodyPr anchor="ctr">
            <a:normAutofit/>
          </a:bodyPr>
          <a:lstStyle>
            <a:lvl1pPr algn="l">
              <a:defRPr sz="384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1055" y="4714241"/>
            <a:ext cx="10241281" cy="1259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5974080"/>
            <a:ext cx="10241281" cy="1219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8174" y="9746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2494" y="3322321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613496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6" y="822960"/>
            <a:ext cx="12070080" cy="329184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1054" y="4714241"/>
            <a:ext cx="10241280" cy="10058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5720079"/>
            <a:ext cx="10241281" cy="1473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3491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60950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22254" y="822960"/>
            <a:ext cx="2468880" cy="54864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822960"/>
            <a:ext cx="9387840" cy="637032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92593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477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9045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0301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080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514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8082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8160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7526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9278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19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048363" y="3556000"/>
            <a:ext cx="3578230" cy="385064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1054" y="5384799"/>
            <a:ext cx="10241280" cy="18084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822961"/>
            <a:ext cx="10241280" cy="4338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85294" y="7406641"/>
            <a:ext cx="1920240" cy="4381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AAD347D-5ACD-4C99-B74B-A9C85AD731AF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1054" y="7406641"/>
            <a:ext cx="9052560" cy="4381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5841" y="6694171"/>
            <a:ext cx="1370694" cy="8039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84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703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1" r:id="rId1"/>
    <p:sldLayoutId id="2147484452" r:id="rId2"/>
    <p:sldLayoutId id="2147484453" r:id="rId3"/>
    <p:sldLayoutId id="2147484454" r:id="rId4"/>
    <p:sldLayoutId id="2147484455" r:id="rId5"/>
    <p:sldLayoutId id="2147484456" r:id="rId6"/>
    <p:sldLayoutId id="2147484457" r:id="rId7"/>
    <p:sldLayoutId id="2147484458" r:id="rId8"/>
    <p:sldLayoutId id="2147484459" r:id="rId9"/>
    <p:sldLayoutId id="2147484460" r:id="rId10"/>
    <p:sldLayoutId id="2147484461" r:id="rId11"/>
    <p:sldLayoutId id="2147484462" r:id="rId12"/>
    <p:sldLayoutId id="2147484463" r:id="rId13"/>
    <p:sldLayoutId id="2147484464" r:id="rId14"/>
    <p:sldLayoutId id="2147484465" r:id="rId15"/>
    <p:sldLayoutId id="2147484466" r:id="rId16"/>
    <p:sldLayoutId id="2147484467" r:id="rId17"/>
    <p:sldLayoutId id="2147484468" r:id="rId18"/>
    <p:sldLayoutId id="2147484469" r:id="rId19"/>
    <p:sldLayoutId id="2147484470" r:id="rId20"/>
    <p:sldLayoutId id="2147484471" r:id="rId21"/>
    <p:sldLayoutId id="2147484472" r:id="rId22"/>
    <p:sldLayoutId id="2147484473" r:id="rId23"/>
    <p:sldLayoutId id="2147484474" r:id="rId24"/>
    <p:sldLayoutId id="2147484475" r:id="rId25"/>
    <p:sldLayoutId id="2147484476" r:id="rId26"/>
    <p:sldLayoutId id="2147484477" r:id="rId27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6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2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chemeClr val="bg1"/>
                </a:solidFill>
                <a:latin typeface="+mj-lt"/>
                <a:ea typeface="Inter Bold" pitchFamily="34" charset="-122"/>
                <a:cs typeface="Times New Roman" panose="02020603050405020304" pitchFamily="18" charset="0"/>
              </a:rPr>
              <a:t>Personal Library Management System (PLMS)</a:t>
            </a:r>
            <a:endParaRPr lang="en-US" sz="4800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372808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 Comprehensive Solution for Organizing Book and DVD Collections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Resim 7" descr="iç mekan, kitap, metin, ofis malzem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046DAE7-1869-574E-29EA-83FF27D6B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370" y="0"/>
            <a:ext cx="552303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449" y="900946"/>
            <a:ext cx="12817197" cy="65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4100" b="1" dirty="0">
                <a:solidFill>
                  <a:schemeClr val="bg1"/>
                </a:solidFill>
                <a:latin typeface="+mj-lt"/>
                <a:ea typeface="Inter Bold" pitchFamily="34" charset="-122"/>
                <a:cs typeface="Inter Bold" pitchFamily="34" charset="-120"/>
              </a:rPr>
              <a:t>Current Situation: Disorganization and Challenges</a:t>
            </a:r>
            <a:endParaRPr lang="en-US" sz="4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5449" y="1977747"/>
            <a:ext cx="4246483" cy="2738557"/>
          </a:xfrm>
          <a:prstGeom prst="roundRect">
            <a:avLst>
              <a:gd name="adj" fmla="val 3223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953095" y="2195393"/>
            <a:ext cx="630317" cy="630317"/>
          </a:xfrm>
          <a:prstGeom prst="roundRect">
            <a:avLst>
              <a:gd name="adj" fmla="val 14505535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450" y="2368748"/>
            <a:ext cx="283607" cy="2836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3095" y="3035737"/>
            <a:ext cx="3745468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Memory and Scattered Notes</a:t>
            </a:r>
            <a:endParaRPr lang="en-US" sz="205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53095" y="3489960"/>
            <a:ext cx="3811191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often entrust their collections to their memory, spreadsheets, or scattered notes.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5191958" y="1977747"/>
            <a:ext cx="4246483" cy="2738557"/>
          </a:xfrm>
          <a:prstGeom prst="roundRect">
            <a:avLst>
              <a:gd name="adj" fmla="val 3223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5409605" y="2195393"/>
            <a:ext cx="630317" cy="630317"/>
          </a:xfrm>
          <a:prstGeom prst="roundRect">
            <a:avLst>
              <a:gd name="adj" fmla="val 14505535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2960" y="2368748"/>
            <a:ext cx="283607" cy="2836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09605" y="3035737"/>
            <a:ext cx="2996565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0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Inconsistent Data Entry</a:t>
            </a:r>
          </a:p>
        </p:txBody>
      </p:sp>
      <p:sp>
        <p:nvSpPr>
          <p:cNvPr id="12" name="Text 8"/>
          <p:cNvSpPr/>
          <p:nvPr/>
        </p:nvSpPr>
        <p:spPr>
          <a:xfrm>
            <a:off x="5409605" y="3489960"/>
            <a:ext cx="3811191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Metadata inconsistencies and duplicate entries make collection management difficult.</a:t>
            </a:r>
          </a:p>
        </p:txBody>
      </p:sp>
      <p:sp>
        <p:nvSpPr>
          <p:cNvPr id="13" name="Shape 9"/>
          <p:cNvSpPr/>
          <p:nvPr/>
        </p:nvSpPr>
        <p:spPr>
          <a:xfrm>
            <a:off x="9648468" y="1977747"/>
            <a:ext cx="4246483" cy="2738557"/>
          </a:xfrm>
          <a:prstGeom prst="roundRect">
            <a:avLst>
              <a:gd name="adj" fmla="val 3223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9866114" y="2195393"/>
            <a:ext cx="630317" cy="630317"/>
          </a:xfrm>
          <a:prstGeom prst="roundRect">
            <a:avLst>
              <a:gd name="adj" fmla="val 14505535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39469" y="2368748"/>
            <a:ext cx="283607" cy="28360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114" y="3035737"/>
            <a:ext cx="2626638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0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Poor Searchability</a:t>
            </a:r>
          </a:p>
        </p:txBody>
      </p:sp>
      <p:sp>
        <p:nvSpPr>
          <p:cNvPr id="17" name="Text 12"/>
          <p:cNvSpPr/>
          <p:nvPr/>
        </p:nvSpPr>
        <p:spPr>
          <a:xfrm>
            <a:off x="9866114" y="3489960"/>
            <a:ext cx="3811191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Lack of searchability makes finding a specific item impossible.</a:t>
            </a:r>
          </a:p>
        </p:txBody>
      </p:sp>
      <p:sp>
        <p:nvSpPr>
          <p:cNvPr id="18" name="Shape 13"/>
          <p:cNvSpPr/>
          <p:nvPr/>
        </p:nvSpPr>
        <p:spPr>
          <a:xfrm>
            <a:off x="735449" y="4926330"/>
            <a:ext cx="6474738" cy="2402324"/>
          </a:xfrm>
          <a:prstGeom prst="roundRect">
            <a:avLst>
              <a:gd name="adj" fmla="val 3674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4"/>
          <p:cNvSpPr/>
          <p:nvPr/>
        </p:nvSpPr>
        <p:spPr>
          <a:xfrm>
            <a:off x="953095" y="5143976"/>
            <a:ext cx="630317" cy="630317"/>
          </a:xfrm>
          <a:prstGeom prst="roundRect">
            <a:avLst>
              <a:gd name="adj" fmla="val 14505535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6450" y="5317331"/>
            <a:ext cx="283607" cy="28360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3095" y="5984319"/>
            <a:ext cx="2626638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0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Untracked Loans</a:t>
            </a:r>
          </a:p>
        </p:txBody>
      </p:sp>
      <p:sp>
        <p:nvSpPr>
          <p:cNvPr id="22" name="Text 16"/>
          <p:cNvSpPr/>
          <p:nvPr/>
        </p:nvSpPr>
        <p:spPr>
          <a:xfrm>
            <a:off x="953095" y="6438543"/>
            <a:ext cx="6039445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Books and DVDs borrowed and forgotten are a common problem.</a:t>
            </a:r>
          </a:p>
        </p:txBody>
      </p:sp>
      <p:sp>
        <p:nvSpPr>
          <p:cNvPr id="23" name="Shape 17"/>
          <p:cNvSpPr/>
          <p:nvPr/>
        </p:nvSpPr>
        <p:spPr>
          <a:xfrm>
            <a:off x="7420213" y="4926330"/>
            <a:ext cx="6474738" cy="2402324"/>
          </a:xfrm>
          <a:prstGeom prst="roundRect">
            <a:avLst>
              <a:gd name="adj" fmla="val 3674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18"/>
          <p:cNvSpPr/>
          <p:nvPr/>
        </p:nvSpPr>
        <p:spPr>
          <a:xfrm>
            <a:off x="7637859" y="5143976"/>
            <a:ext cx="630317" cy="630317"/>
          </a:xfrm>
          <a:prstGeom prst="roundRect">
            <a:avLst>
              <a:gd name="adj" fmla="val 14505535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1214" y="5317331"/>
            <a:ext cx="283607" cy="28360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37859" y="5984319"/>
            <a:ext cx="2681764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0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No Reading Progress</a:t>
            </a:r>
          </a:p>
        </p:txBody>
      </p:sp>
      <p:sp>
        <p:nvSpPr>
          <p:cNvPr id="27" name="Text 20"/>
          <p:cNvSpPr/>
          <p:nvPr/>
        </p:nvSpPr>
        <p:spPr>
          <a:xfrm>
            <a:off x="7637859" y="6438543"/>
            <a:ext cx="6039445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Not keeping track of reading or viewing progress reduces motivation.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559" y="668774"/>
            <a:ext cx="9605486" cy="589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150"/>
              </a:lnSpc>
            </a:pPr>
            <a:r>
              <a:rPr lang="en-US" sz="4100" b="1" dirty="0">
                <a:solidFill>
                  <a:schemeClr val="bg1"/>
                </a:solidFill>
                <a:latin typeface="+mj-lt"/>
                <a:ea typeface="Inter Bold" pitchFamily="34" charset="-122"/>
              </a:rPr>
              <a:t>Solution: An Organized Library with </a:t>
            </a:r>
            <a:r>
              <a:rPr lang="tr-TR" sz="4100" b="1" dirty="0">
                <a:solidFill>
                  <a:schemeClr val="bg1"/>
                </a:solidFill>
                <a:latin typeface="+mj-lt"/>
                <a:ea typeface="Inter Bold" pitchFamily="34" charset="-122"/>
              </a:rPr>
              <a:t>PLMS</a:t>
            </a:r>
            <a:endParaRPr lang="en-US" sz="4100" b="1" dirty="0">
              <a:solidFill>
                <a:schemeClr val="bg1"/>
              </a:solidFill>
              <a:latin typeface="+mj-lt"/>
              <a:ea typeface="Inter Bold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0559" y="1711285"/>
            <a:ext cx="7801332" cy="90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PLMS is a</a:t>
            </a:r>
            <a:r>
              <a:rPr lang="tr-TR" sz="14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r>
              <a:rPr lang="en-US" sz="14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application designed to organize your personal book and DVD collection. It transforms disorganized collections into a structured, easy-to-manage digital library.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60559" y="2829401"/>
            <a:ext cx="3806309" cy="1510665"/>
          </a:xfrm>
          <a:prstGeom prst="roundRect">
            <a:avLst>
              <a:gd name="adj" fmla="val 7264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37699" y="2829401"/>
            <a:ext cx="91440" cy="1510665"/>
          </a:xfrm>
          <a:prstGeom prst="roundRect">
            <a:avLst>
              <a:gd name="adj" fmla="val 86694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40713" y="3040975"/>
            <a:ext cx="2478167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8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Reduce Manual Effort</a:t>
            </a:r>
          </a:p>
        </p:txBody>
      </p:sp>
      <p:sp>
        <p:nvSpPr>
          <p:cNvPr id="7" name="Text 5"/>
          <p:cNvSpPr/>
          <p:nvPr/>
        </p:nvSpPr>
        <p:spPr>
          <a:xfrm>
            <a:off x="940713" y="3524607"/>
            <a:ext cx="3314581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Minimizes manual data entry through automation.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655582" y="2829401"/>
            <a:ext cx="3806309" cy="1510665"/>
          </a:xfrm>
          <a:prstGeom prst="roundRect">
            <a:avLst>
              <a:gd name="adj" fmla="val 7264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632722" y="2829401"/>
            <a:ext cx="91440" cy="1510665"/>
          </a:xfrm>
          <a:prstGeom prst="roundRect">
            <a:avLst>
              <a:gd name="adj" fmla="val 86694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5736" y="3040975"/>
            <a:ext cx="287000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8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Improved Discoverability</a:t>
            </a:r>
          </a:p>
        </p:txBody>
      </p:sp>
      <p:sp>
        <p:nvSpPr>
          <p:cNvPr id="11" name="Text 9"/>
          <p:cNvSpPr/>
          <p:nvPr/>
        </p:nvSpPr>
        <p:spPr>
          <a:xfrm>
            <a:off x="4935736" y="3524607"/>
            <a:ext cx="3314581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45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Easily find items with comprehensive search and filtering features.</a:t>
            </a:r>
          </a:p>
        </p:txBody>
      </p:sp>
      <p:sp>
        <p:nvSpPr>
          <p:cNvPr id="12" name="Shape 10"/>
          <p:cNvSpPr/>
          <p:nvPr/>
        </p:nvSpPr>
        <p:spPr>
          <a:xfrm>
            <a:off x="660559" y="4528780"/>
            <a:ext cx="3806309" cy="1805583"/>
          </a:xfrm>
          <a:prstGeom prst="roundRect">
            <a:avLst>
              <a:gd name="adj" fmla="val 6077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637699" y="4528780"/>
            <a:ext cx="91440" cy="1805583"/>
          </a:xfrm>
          <a:prstGeom prst="roundRect">
            <a:avLst>
              <a:gd name="adj" fmla="val 86694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940713" y="4876383"/>
            <a:ext cx="3314581" cy="294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Centralized Data Management</a:t>
            </a:r>
            <a:endParaRPr lang="en-US" sz="185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40713" y="5450889"/>
            <a:ext cx="3314581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45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Consolidate all your library data in one central location.</a:t>
            </a:r>
          </a:p>
        </p:txBody>
      </p:sp>
      <p:sp>
        <p:nvSpPr>
          <p:cNvPr id="16" name="Shape 14"/>
          <p:cNvSpPr/>
          <p:nvPr/>
        </p:nvSpPr>
        <p:spPr>
          <a:xfrm>
            <a:off x="660559" y="6546652"/>
            <a:ext cx="7801332" cy="801886"/>
          </a:xfrm>
          <a:prstGeom prst="roundRect">
            <a:avLst>
              <a:gd name="adj" fmla="val 9886"/>
            </a:avLst>
          </a:prstGeom>
          <a:noFill/>
          <a:ln>
            <a:solidFill>
              <a:schemeClr val="bg1"/>
            </a:solidFill>
          </a:ln>
        </p:spPr>
        <p:txBody>
          <a:bodyPr/>
          <a:lstStyle/>
          <a:p>
            <a:endParaRPr lang="tr-T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73" y="6830735"/>
            <a:ext cx="235863" cy="18871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73850" y="6782514"/>
            <a:ext cx="699932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 multi-device access with optional cloud synchronization.</a:t>
            </a:r>
            <a:endParaRPr lang="en-US" sz="1450" dirty="0">
              <a:solidFill>
                <a:schemeClr val="bg1"/>
              </a:solidFill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045" y="1753791"/>
            <a:ext cx="5047298" cy="50472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2">
            <a:extLst>
              <a:ext uri="{FF2B5EF4-FFF2-40B4-BE49-F238E27FC236}">
                <a16:creationId xmlns:a16="http://schemas.microsoft.com/office/drawing/2014/main" id="{A1065F95-7754-864D-56C6-B5B7C749B429}"/>
              </a:ext>
            </a:extLst>
          </p:cNvPr>
          <p:cNvSpPr/>
          <p:nvPr/>
        </p:nvSpPr>
        <p:spPr>
          <a:xfrm>
            <a:off x="667820" y="2065106"/>
            <a:ext cx="12548710" cy="5541431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" name="Text 0"/>
          <p:cNvSpPr/>
          <p:nvPr/>
        </p:nvSpPr>
        <p:spPr>
          <a:xfrm>
            <a:off x="754737" y="1101566"/>
            <a:ext cx="12548711" cy="673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4200" b="1" dirty="0">
                <a:solidFill>
                  <a:schemeClr val="bg1"/>
                </a:solidFill>
                <a:latin typeface="+mj-lt"/>
                <a:ea typeface="Inter Bold" pitchFamily="34" charset="-122"/>
                <a:cs typeface="Inter Bold" pitchFamily="34" charset="-120"/>
              </a:rPr>
              <a:t>Key Features: Your Collection at Your Fingertips</a:t>
            </a:r>
            <a:endParaRPr lang="en-US" sz="4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058" y="2330182"/>
            <a:ext cx="646867" cy="6468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6058" y="3131257"/>
            <a:ext cx="269557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Smart Inventory</a:t>
            </a:r>
            <a:endParaRPr lang="en-US" sz="21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46058" y="3589377"/>
            <a:ext cx="4193857" cy="103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item addition via ISBN/Barcode scanning (via Google Books, OMDb APIs).</a:t>
            </a:r>
            <a:endParaRPr lang="en-US" sz="165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8152" y="2206704"/>
            <a:ext cx="646867" cy="6468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8152" y="3123128"/>
            <a:ext cx="269557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Search</a:t>
            </a:r>
            <a:r>
              <a:rPr lang="en-US" sz="21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 and Filtering</a:t>
            </a:r>
            <a:endParaRPr lang="en-US" sz="21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18152" y="3589377"/>
            <a:ext cx="4193977" cy="103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filtering options such as genre, author, tag, year, and lending status.</a:t>
            </a:r>
            <a:endParaRPr lang="en-US" sz="165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81686" y="2206704"/>
            <a:ext cx="646867" cy="6468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686" y="3123128"/>
            <a:ext cx="2939177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Lists and Organization</a:t>
            </a:r>
            <a:endParaRPr lang="en-US" sz="21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81686" y="3589377"/>
            <a:ext cx="4193857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custom lists (e.g., "Summer Reads") and reorder items.</a:t>
            </a:r>
            <a:endParaRPr lang="en-US" sz="1650" dirty="0">
              <a:solidFill>
                <a:schemeClr val="bg1"/>
              </a:solidFill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6058" y="5055394"/>
            <a:ext cx="646867" cy="6468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6057" y="5971818"/>
            <a:ext cx="269557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Progress Tracking</a:t>
            </a:r>
            <a:endParaRPr lang="en-US" sz="21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46057" y="6438067"/>
            <a:ext cx="4193857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pages read or minutes watched; visualize completion percentage.</a:t>
            </a:r>
            <a:endParaRPr lang="en-US" sz="1650" dirty="0">
              <a:solidFill>
                <a:schemeClr val="bg1"/>
              </a:solidFill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18152" y="5055394"/>
            <a:ext cx="646867" cy="6468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18152" y="5971818"/>
            <a:ext cx="2860477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Lending Management</a:t>
            </a:r>
            <a:endParaRPr lang="en-US" sz="21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218152" y="6438067"/>
            <a:ext cx="4193977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who you've lent to, set due dates, and receive overdue reminders.</a:t>
            </a:r>
            <a:endParaRPr lang="en-US" sz="16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846" y="526256"/>
            <a:ext cx="12310467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3750" b="1" dirty="0">
                <a:solidFill>
                  <a:schemeClr val="bg1"/>
                </a:solidFill>
                <a:latin typeface="+mj-lt"/>
                <a:ea typeface="Inter Bold" pitchFamily="34" charset="-122"/>
                <a:cs typeface="Inter Bold" pitchFamily="34" charset="-120"/>
              </a:rPr>
              <a:t>System Architecture: Layered and Modular Structure</a:t>
            </a:r>
            <a:endParaRPr lang="en-US" sz="37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9846" y="1507093"/>
            <a:ext cx="1329070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tr-TR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PLMS</a:t>
            </a:r>
            <a:r>
              <a:rPr lang="en-US" sz="15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uses a layered, three-tier architecture to provide robustness and flexibility.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46" y="2031089"/>
            <a:ext cx="13290709" cy="6082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5343" y="2799498"/>
            <a:ext cx="2940040" cy="367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Data</a:t>
            </a:r>
            <a:r>
              <a:rPr lang="en-US" sz="13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Persistence</a:t>
            </a:r>
          </a:p>
        </p:txBody>
      </p:sp>
      <p:sp>
        <p:nvSpPr>
          <p:cNvPr id="6" name="Text 3"/>
          <p:cNvSpPr/>
          <p:nvPr/>
        </p:nvSpPr>
        <p:spPr>
          <a:xfrm>
            <a:off x="10405343" y="3271538"/>
            <a:ext cx="3240578" cy="58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Database, storage, and backup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023348" y="4798725"/>
            <a:ext cx="2940041" cy="367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Application Logic</a:t>
            </a:r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84148" y="5270765"/>
            <a:ext cx="2979241" cy="58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rules, services, and APIs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0405343" y="5831006"/>
            <a:ext cx="2940040" cy="367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Presentation</a:t>
            </a:r>
            <a:r>
              <a:rPr lang="en-US" sz="13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Layer</a:t>
            </a:r>
          </a:p>
        </p:txBody>
      </p:sp>
      <p:sp>
        <p:nvSpPr>
          <p:cNvPr id="10" name="Text 7"/>
          <p:cNvSpPr/>
          <p:nvPr/>
        </p:nvSpPr>
        <p:spPr>
          <a:xfrm>
            <a:off x="10405343" y="6303046"/>
            <a:ext cx="3240578" cy="58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interface and input/output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9695" y="406599"/>
            <a:ext cx="8675132" cy="472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2950" b="1" dirty="0">
                <a:solidFill>
                  <a:schemeClr val="bg1"/>
                </a:solidFill>
                <a:latin typeface="+mj-lt"/>
                <a:ea typeface="Inter Bold" pitchFamily="34" charset="-122"/>
                <a:cs typeface="Inter Bold" pitchFamily="34" charset="-120"/>
              </a:rPr>
              <a:t>Architecture Depth: Subsystem Decomposition</a:t>
            </a:r>
            <a:endParaRPr lang="en-US" sz="29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8638" y="1199674"/>
            <a:ext cx="1357312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divided into modular subsystems, which facilitates maintenance and future expansion.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28638" y="1611273"/>
            <a:ext cx="13573125" cy="906304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3878" y="1626513"/>
            <a:ext cx="604123" cy="875824"/>
          </a:xfrm>
          <a:prstGeom prst="roundRect">
            <a:avLst>
              <a:gd name="adj" fmla="val 7475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782" y="1951077"/>
            <a:ext cx="226576" cy="2265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972" y="1777484"/>
            <a:ext cx="1888212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Inventory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98972" y="2104073"/>
            <a:ext cx="1263657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Manages</a:t>
            </a:r>
            <a:r>
              <a:rPr lang="en-US" sz="11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book and DVD records.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528638" y="2668548"/>
            <a:ext cx="13573125" cy="906304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543878" y="2683788"/>
            <a:ext cx="604123" cy="875824"/>
          </a:xfrm>
          <a:prstGeom prst="roundRect">
            <a:avLst>
              <a:gd name="adj" fmla="val 7475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782" y="3008352"/>
            <a:ext cx="226576" cy="2265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972" y="2834759"/>
            <a:ext cx="1888212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External Integration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298972" y="3161348"/>
            <a:ext cx="1263657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Communicates with external APIs like Google Books and OMDb.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28638" y="3725823"/>
            <a:ext cx="13573125" cy="906304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543878" y="3741063"/>
            <a:ext cx="604123" cy="875824"/>
          </a:xfrm>
          <a:prstGeom prst="roundRect">
            <a:avLst>
              <a:gd name="adj" fmla="val 7475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8782" y="4065627"/>
            <a:ext cx="226576" cy="2265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972" y="3892034"/>
            <a:ext cx="1888212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Lists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298972" y="4218623"/>
            <a:ext cx="1263657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user-defined collection lists.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28638" y="4783098"/>
            <a:ext cx="13573125" cy="906304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543878" y="4798338"/>
            <a:ext cx="604123" cy="875824"/>
          </a:xfrm>
          <a:prstGeom prst="roundRect">
            <a:avLst>
              <a:gd name="adj" fmla="val 7475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8782" y="5122902"/>
            <a:ext cx="226576" cy="2265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98972" y="4949309"/>
            <a:ext cx="1888212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Progress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298972" y="5275897"/>
            <a:ext cx="1263657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reading and watching progress.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4" name="Shape 18"/>
          <p:cNvSpPr/>
          <p:nvPr/>
        </p:nvSpPr>
        <p:spPr>
          <a:xfrm>
            <a:off x="528638" y="5840373"/>
            <a:ext cx="13573125" cy="906304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543878" y="5855613"/>
            <a:ext cx="604123" cy="875824"/>
          </a:xfrm>
          <a:prstGeom prst="roundRect">
            <a:avLst>
              <a:gd name="adj" fmla="val 7475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8782" y="6180177"/>
            <a:ext cx="226576" cy="2265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98972" y="6006584"/>
            <a:ext cx="1888212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Loans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1298972" y="6333173"/>
            <a:ext cx="1263657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lending and borrowing processes.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9" name="Shape 22"/>
          <p:cNvSpPr/>
          <p:nvPr/>
        </p:nvSpPr>
        <p:spPr>
          <a:xfrm>
            <a:off x="543878" y="6912888"/>
            <a:ext cx="13573125" cy="906304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543878" y="6912888"/>
            <a:ext cx="604123" cy="875824"/>
          </a:xfrm>
          <a:prstGeom prst="roundRect">
            <a:avLst>
              <a:gd name="adj" fmla="val 7475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8782" y="7237452"/>
            <a:ext cx="226576" cy="2265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98972" y="7063859"/>
            <a:ext cx="1888212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Data I/O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1298972" y="7390448"/>
            <a:ext cx="1263657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data persistence (relational database).</a:t>
            </a:r>
            <a:endParaRPr lang="en-US" sz="11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566" y="566142"/>
            <a:ext cx="7702868" cy="1287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50"/>
              </a:lnSpc>
              <a:buNone/>
            </a:pPr>
            <a:r>
              <a:rPr lang="en-US" sz="4050" b="1" dirty="0">
                <a:solidFill>
                  <a:schemeClr val="bg1"/>
                </a:solidFill>
                <a:latin typeface="+mj-lt"/>
                <a:ea typeface="Inter Bold" pitchFamily="34" charset="-122"/>
                <a:cs typeface="Inter Bold" pitchFamily="34" charset="-120"/>
              </a:rPr>
              <a:t>Data Flow: From Requests to Persistence</a:t>
            </a:r>
            <a:endParaRPr lang="en-US" sz="40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720566" y="2162056"/>
            <a:ext cx="770286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a seamless flow from user interactions to data storage.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66" y="2722959"/>
            <a:ext cx="1029533" cy="12353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55959" y="3018948"/>
            <a:ext cx="257377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  <a:ea typeface="HGMaruGothicMPRO" panose="020B0400000000000000" pitchFamily="34" charset="-128"/>
                <a:cs typeface="Inter Bold" pitchFamily="34" charset="-120"/>
              </a:rPr>
              <a:t>Client Request</a:t>
            </a:r>
            <a:endParaRPr lang="en-US" sz="2400" dirty="0">
              <a:solidFill>
                <a:schemeClr val="bg1"/>
              </a:solidFill>
              <a:latin typeface="Aptos" panose="020B0004020202020204" pitchFamily="34" charset="0"/>
              <a:ea typeface="HGMaruGothicMPRO" panose="020B0400000000000000" pitchFamily="34" charset="-128"/>
            </a:endParaRPr>
          </a:p>
        </p:txBody>
      </p:sp>
      <p:sp>
        <p:nvSpPr>
          <p:cNvPr id="7" name="Text 3"/>
          <p:cNvSpPr/>
          <p:nvPr/>
        </p:nvSpPr>
        <p:spPr>
          <a:xfrm>
            <a:off x="1955959" y="3373993"/>
            <a:ext cx="646747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user initiates an action via the web interface.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66" y="3958352"/>
            <a:ext cx="1029533" cy="123539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55959" y="4254341"/>
            <a:ext cx="272569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Controller Processing</a:t>
            </a:r>
            <a:endParaRPr lang="en-US" sz="2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955959" y="4609386"/>
            <a:ext cx="646747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request is received and routed by the controllers.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66" y="5193744"/>
            <a:ext cx="1029533" cy="123539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55959" y="5489734"/>
            <a:ext cx="257377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Service</a:t>
            </a: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Logic</a:t>
            </a:r>
          </a:p>
        </p:txBody>
      </p:sp>
      <p:sp>
        <p:nvSpPr>
          <p:cNvPr id="13" name="Text 7"/>
          <p:cNvSpPr/>
          <p:nvPr/>
        </p:nvSpPr>
        <p:spPr>
          <a:xfrm>
            <a:off x="1955959" y="5844778"/>
            <a:ext cx="646747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 and external integration are handled by services.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66" y="6429137"/>
            <a:ext cx="1029533" cy="123539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955959" y="6725126"/>
            <a:ext cx="2742843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Database Persistence</a:t>
            </a:r>
            <a:endParaRPr lang="en-US" sz="2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1955959" y="7080171"/>
            <a:ext cx="646747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is securely stored in a relational database.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3292" y="582864"/>
            <a:ext cx="7672388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Inter Bold" pitchFamily="34" charset="-122"/>
                <a:cs typeface="Inter Bold" pitchFamily="34" charset="-120"/>
              </a:rPr>
              <a:t>Design Goals: User-Centric Experience</a:t>
            </a:r>
            <a:endParaRPr lang="en-US" sz="4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735806" y="2207419"/>
            <a:ext cx="7672388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design principles of </a:t>
            </a:r>
            <a:r>
              <a:rPr lang="tr-TR" sz="16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PLMS</a:t>
            </a:r>
            <a:r>
              <a:rPr lang="en-US" sz="16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to provide a superior user experience.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735747" y="3085495"/>
            <a:ext cx="473035" cy="473035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814626" y="3155990"/>
            <a:ext cx="315278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E5E0DF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1418987" y="3124904"/>
            <a:ext cx="3153608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Usability</a:t>
            </a:r>
            <a:endParaRPr lang="en-US" sz="2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18987" y="3637500"/>
            <a:ext cx="6989207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user-friendly interface with the goal of completing the "Add with ISBN" feature in less than 3 steps and providing clear feedback.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35806" y="4712685"/>
            <a:ext cx="473035" cy="473035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814626" y="4808815"/>
            <a:ext cx="315278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E5E0DF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1418987" y="4752094"/>
            <a:ext cx="3153608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Performance</a:t>
            </a:r>
          </a:p>
        </p:txBody>
      </p:sp>
      <p:sp>
        <p:nvSpPr>
          <p:cNvPr id="12" name="Text 9"/>
          <p:cNvSpPr/>
          <p:nvPr/>
        </p:nvSpPr>
        <p:spPr>
          <a:xfrm>
            <a:off x="1418392" y="5262055"/>
            <a:ext cx="6989207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Guaranteeing fast response times by delivering search results for a collection of 5,000 items in under 1.5 seconds.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35806" y="6337240"/>
            <a:ext cx="473035" cy="473035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814626" y="6461641"/>
            <a:ext cx="315278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E5E0DF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1418392" y="6376649"/>
            <a:ext cx="3153608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Reliability</a:t>
            </a:r>
          </a:p>
        </p:txBody>
      </p:sp>
      <p:sp>
        <p:nvSpPr>
          <p:cNvPr id="16" name="Text 13"/>
          <p:cNvSpPr/>
          <p:nvPr/>
        </p:nvSpPr>
        <p:spPr>
          <a:xfrm>
            <a:off x="1418987" y="6882078"/>
            <a:ext cx="6989207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Preventing data loss and ensuring the system continues to operate smoothly even when external APIs fail.</a:t>
            </a:r>
            <a:endParaRPr lang="en-US" sz="16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40A66-0F41-8BEB-9975-D221CD6D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21422743-A502-1292-D074-A448213DF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E0D36D5A-ED98-5F1F-5D00-DB5FDD3B111C}"/>
              </a:ext>
            </a:extLst>
          </p:cNvPr>
          <p:cNvSpPr/>
          <p:nvPr/>
        </p:nvSpPr>
        <p:spPr>
          <a:xfrm>
            <a:off x="602099" y="772954"/>
            <a:ext cx="4300776" cy="537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Inter Bold" pitchFamily="34" charset="-122"/>
              </a:rPr>
              <a:t>Lessons Learned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B84BEE9A-EB85-9D77-69BF-B5894CE3FCE7}"/>
              </a:ext>
            </a:extLst>
          </p:cNvPr>
          <p:cNvSpPr/>
          <p:nvPr/>
        </p:nvSpPr>
        <p:spPr>
          <a:xfrm>
            <a:off x="602099" y="1980128"/>
            <a:ext cx="387072" cy="387072"/>
          </a:xfrm>
          <a:prstGeom prst="roundRect">
            <a:avLst>
              <a:gd name="adj" fmla="val 1866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4BD37EE8-2081-06F1-5CAB-BD56CACAAAFE}"/>
              </a:ext>
            </a:extLst>
          </p:cNvPr>
          <p:cNvSpPr/>
          <p:nvPr/>
        </p:nvSpPr>
        <p:spPr>
          <a:xfrm>
            <a:off x="1161098" y="2012275"/>
            <a:ext cx="4211598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Automation</a:t>
            </a: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Drives</a:t>
            </a: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User</a:t>
            </a: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Adoption</a:t>
            </a: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4BC3D2D2-9245-12F5-E2A9-4FA383AB724F}"/>
              </a:ext>
            </a:extLst>
          </p:cNvPr>
          <p:cNvSpPr/>
          <p:nvPr/>
        </p:nvSpPr>
        <p:spPr>
          <a:xfrm>
            <a:off x="1161098" y="2437805"/>
            <a:ext cx="7380803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Manual data entry is a significant barrier for users; integrating ISBN and barcode scanning via Google Books and OMDb APIs is essential for a seamless experience.</a:t>
            </a: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10FF0F3D-081C-9A14-B889-8320C690CC77}"/>
              </a:ext>
            </a:extLst>
          </p:cNvPr>
          <p:cNvSpPr/>
          <p:nvPr/>
        </p:nvSpPr>
        <p:spPr>
          <a:xfrm>
            <a:off x="602099" y="3332321"/>
            <a:ext cx="387072" cy="387072"/>
          </a:xfrm>
          <a:prstGeom prst="roundRect">
            <a:avLst>
              <a:gd name="adj" fmla="val 1866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15E384DD-AA2F-FBB8-6C8C-A54995063597}"/>
              </a:ext>
            </a:extLst>
          </p:cNvPr>
          <p:cNvSpPr/>
          <p:nvPr/>
        </p:nvSpPr>
        <p:spPr>
          <a:xfrm>
            <a:off x="1161098" y="3364468"/>
            <a:ext cx="4722971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Modular Design Facilitates Scalability</a:t>
            </a: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71BF10CA-7100-1836-CC61-121291DD9171}"/>
              </a:ext>
            </a:extLst>
          </p:cNvPr>
          <p:cNvSpPr/>
          <p:nvPr/>
        </p:nvSpPr>
        <p:spPr>
          <a:xfrm>
            <a:off x="1161098" y="3789998"/>
            <a:ext cx="7380803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A three-tier architecture—separating the presentation layer, application logic, and data persistence—is vital for building a robust and maintainable system.</a:t>
            </a: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3895ECD7-D6A1-759D-3147-E69607431B45}"/>
              </a:ext>
            </a:extLst>
          </p:cNvPr>
          <p:cNvSpPr/>
          <p:nvPr/>
        </p:nvSpPr>
        <p:spPr>
          <a:xfrm>
            <a:off x="602099" y="4684514"/>
            <a:ext cx="387072" cy="387072"/>
          </a:xfrm>
          <a:prstGeom prst="roundRect">
            <a:avLst>
              <a:gd name="adj" fmla="val 1866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C3CF22B-FC1B-BA4B-1780-2E911BACB897}"/>
              </a:ext>
            </a:extLst>
          </p:cNvPr>
          <p:cNvSpPr/>
          <p:nvPr/>
        </p:nvSpPr>
        <p:spPr>
          <a:xfrm>
            <a:off x="1161098" y="4716661"/>
            <a:ext cx="4484013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Searchability is a Core Requirement</a:t>
            </a: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21996C47-3139-5B71-7927-D0F10F77E4BC}"/>
              </a:ext>
            </a:extLst>
          </p:cNvPr>
          <p:cNvSpPr/>
          <p:nvPr/>
        </p:nvSpPr>
        <p:spPr>
          <a:xfrm>
            <a:off x="1161098" y="5142190"/>
            <a:ext cx="7380803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To avoid the chaos of a physical collection, developers must implement advanced filtering for attributes like genre, author, and lending status.</a:t>
            </a: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156A99C8-C5A5-DBC0-78A4-20828659BA94}"/>
              </a:ext>
            </a:extLst>
          </p:cNvPr>
          <p:cNvSpPr/>
          <p:nvPr/>
        </p:nvSpPr>
        <p:spPr>
          <a:xfrm>
            <a:off x="602099" y="6036707"/>
            <a:ext cx="387072" cy="387072"/>
          </a:xfrm>
          <a:prstGeom prst="roundRect">
            <a:avLst>
              <a:gd name="adj" fmla="val 1866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C1A05190-77A6-9E69-A8B4-9E6B330A7F5F}"/>
              </a:ext>
            </a:extLst>
          </p:cNvPr>
          <p:cNvSpPr/>
          <p:nvPr/>
        </p:nvSpPr>
        <p:spPr>
          <a:xfrm>
            <a:off x="1161098" y="6068854"/>
            <a:ext cx="535090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Performance Metrics Must be Quantifiable</a:t>
            </a: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2A37139F-CF50-442F-3641-BF6A91D312EA}"/>
              </a:ext>
            </a:extLst>
          </p:cNvPr>
          <p:cNvSpPr/>
          <p:nvPr/>
        </p:nvSpPr>
        <p:spPr>
          <a:xfrm>
            <a:off x="1161098" y="6494383"/>
            <a:ext cx="7380803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Establishing concrete targets, such as search results for 5,000 items in under 1.5 seconds, provides clear benchmarks for backend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83704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94157-928A-0344-60E3-D4D84D54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>
            <a:extLst>
              <a:ext uri="{FF2B5EF4-FFF2-40B4-BE49-F238E27FC236}">
                <a16:creationId xmlns:a16="http://schemas.microsoft.com/office/drawing/2014/main" id="{D5FADFBD-9096-2CA9-A012-2D90CE2A14C8}"/>
              </a:ext>
            </a:extLst>
          </p:cNvPr>
          <p:cNvSpPr/>
          <p:nvPr/>
        </p:nvSpPr>
        <p:spPr>
          <a:xfrm>
            <a:off x="602933" y="705382"/>
            <a:ext cx="5922288" cy="538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Inter Bold" pitchFamily="34" charset="-122"/>
              </a:rPr>
              <a:t>What Should Be Done Better</a:t>
            </a:r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42B90D94-99DA-F95B-C171-0C4E7A9606A9}"/>
              </a:ext>
            </a:extLst>
          </p:cNvPr>
          <p:cNvSpPr/>
          <p:nvPr/>
        </p:nvSpPr>
        <p:spPr>
          <a:xfrm>
            <a:off x="602933" y="1976914"/>
            <a:ext cx="387548" cy="387548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978F9FF9-437D-3781-A26D-3895AF57DD2B}"/>
              </a:ext>
            </a:extLst>
          </p:cNvPr>
          <p:cNvSpPr/>
          <p:nvPr/>
        </p:nvSpPr>
        <p:spPr>
          <a:xfrm>
            <a:off x="1162645" y="2009180"/>
            <a:ext cx="3575566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Increase Platform Versatility</a:t>
            </a: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6138BDB0-D35B-5E64-367E-B5DA5C667439}"/>
              </a:ext>
            </a:extLst>
          </p:cNvPr>
          <p:cNvSpPr/>
          <p:nvPr/>
        </p:nvSpPr>
        <p:spPr>
          <a:xfrm>
            <a:off x="1162645" y="2435423"/>
            <a:ext cx="7378422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Transitioning from a purely web-based interface to dedicated mobile and desktop applications would offer users superior accessibility.</a:t>
            </a: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8AA70886-8996-0012-CB0D-D63BF46CAE12}"/>
              </a:ext>
            </a:extLst>
          </p:cNvPr>
          <p:cNvSpPr/>
          <p:nvPr/>
        </p:nvSpPr>
        <p:spPr>
          <a:xfrm>
            <a:off x="602933" y="3331131"/>
            <a:ext cx="387548" cy="387548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E9E7E3D7-22DA-F18E-83C3-C3214ECD2B63}"/>
              </a:ext>
            </a:extLst>
          </p:cNvPr>
          <p:cNvSpPr/>
          <p:nvPr/>
        </p:nvSpPr>
        <p:spPr>
          <a:xfrm>
            <a:off x="1162645" y="3363397"/>
            <a:ext cx="4587954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Integrate Social and Analytical Tools</a:t>
            </a: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ECF7655D-A374-0A27-E641-D93E67FC47B0}"/>
              </a:ext>
            </a:extLst>
          </p:cNvPr>
          <p:cNvSpPr/>
          <p:nvPr/>
        </p:nvSpPr>
        <p:spPr>
          <a:xfrm>
            <a:off x="1162645" y="3789640"/>
            <a:ext cx="7378422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Features like social sharing and reading habit reports would significantly enhance user engagement.</a:t>
            </a: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3FF0D0DE-ED3B-9226-7B1A-D12F2D232488}"/>
              </a:ext>
            </a:extLst>
          </p:cNvPr>
          <p:cNvSpPr/>
          <p:nvPr/>
        </p:nvSpPr>
        <p:spPr>
          <a:xfrm>
            <a:off x="602933" y="4685348"/>
            <a:ext cx="387548" cy="387548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5E5CFF63-EF8A-E0C5-C585-63337E7064D8}"/>
              </a:ext>
            </a:extLst>
          </p:cNvPr>
          <p:cNvSpPr/>
          <p:nvPr/>
        </p:nvSpPr>
        <p:spPr>
          <a:xfrm>
            <a:off x="1162645" y="4717613"/>
            <a:ext cx="464272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Diversify Selection Methods for Lists</a:t>
            </a: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E8045E41-B4D7-3145-41A5-4D074F0EED23}"/>
              </a:ext>
            </a:extLst>
          </p:cNvPr>
          <p:cNvSpPr/>
          <p:nvPr/>
        </p:nvSpPr>
        <p:spPr>
          <a:xfrm>
            <a:off x="1162645" y="5143857"/>
            <a:ext cx="7378422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Rather than relying strictly on unique IDs (ISBN/OMDb ID), allow users to add items to custom lists using titles, author names, or custom tags for a more intuitive workflow.</a:t>
            </a:r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774C17DD-DC73-38DD-7AA4-A4536A4CFDD5}"/>
              </a:ext>
            </a:extLst>
          </p:cNvPr>
          <p:cNvSpPr/>
          <p:nvPr/>
        </p:nvSpPr>
        <p:spPr>
          <a:xfrm>
            <a:off x="602933" y="6039564"/>
            <a:ext cx="387548" cy="387548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CCDDD51B-4D43-2560-DFD0-6E2FC14E347A}"/>
              </a:ext>
            </a:extLst>
          </p:cNvPr>
          <p:cNvSpPr/>
          <p:nvPr/>
        </p:nvSpPr>
        <p:spPr>
          <a:xfrm>
            <a:off x="1162645" y="6071830"/>
            <a:ext cx="5229701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Implement NLP-Based Recommendations</a:t>
            </a: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42B1C635-9CE5-7570-B107-BF8DCF64FC77}"/>
              </a:ext>
            </a:extLst>
          </p:cNvPr>
          <p:cNvSpPr/>
          <p:nvPr/>
        </p:nvSpPr>
        <p:spPr>
          <a:xfrm>
            <a:off x="1162645" y="6498074"/>
            <a:ext cx="7378422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Use Natural Language Processing to analyze user metadata and reading/viewing progress to suggest new content.</a:t>
            </a:r>
          </a:p>
        </p:txBody>
      </p:sp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BB113CC6-1628-9332-7AF1-EEFDA57EA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23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7FE0-EFBF-9CCB-DBDD-9519A988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0C783F5A-80B0-FD16-A104-9D5EDF51E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050F2CFD-BA17-7F54-F859-5D438094D659}"/>
              </a:ext>
            </a:extLst>
          </p:cNvPr>
          <p:cNvSpPr/>
          <p:nvPr/>
        </p:nvSpPr>
        <p:spPr>
          <a:xfrm>
            <a:off x="558522" y="749260"/>
            <a:ext cx="5466040" cy="498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00"/>
              </a:lnSpc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Inter Bold" pitchFamily="34" charset="-122"/>
              </a:rPr>
              <a:t>What Should Never Be Done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C7A03AFE-204E-8629-0ED4-A3FF7E4E723E}"/>
              </a:ext>
            </a:extLst>
          </p:cNvPr>
          <p:cNvSpPr/>
          <p:nvPr/>
        </p:nvSpPr>
        <p:spPr>
          <a:xfrm>
            <a:off x="558522" y="1803440"/>
            <a:ext cx="8026956" cy="1220510"/>
          </a:xfrm>
          <a:prstGeom prst="roundRect">
            <a:avLst>
              <a:gd name="adj" fmla="val 8990"/>
            </a:avLst>
          </a:prstGeom>
          <a:noFill/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B4B1C22F-D000-8684-AFBD-E7BA82765774}"/>
              </a:ext>
            </a:extLst>
          </p:cNvPr>
          <p:cNvSpPr/>
          <p:nvPr/>
        </p:nvSpPr>
        <p:spPr>
          <a:xfrm>
            <a:off x="535662" y="1803440"/>
            <a:ext cx="91440" cy="1220510"/>
          </a:xfrm>
          <a:prstGeom prst="roundRect">
            <a:avLst>
              <a:gd name="adj" fmla="val 73303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5362534C-8D95-C71D-2438-35F546F6B9D5}"/>
              </a:ext>
            </a:extLst>
          </p:cNvPr>
          <p:cNvSpPr/>
          <p:nvPr/>
        </p:nvSpPr>
        <p:spPr>
          <a:xfrm>
            <a:off x="809506" y="1985843"/>
            <a:ext cx="2932152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Never Rely on Volatile Storage</a:t>
            </a: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7990A825-3492-AF15-9F9F-2A0BB1485074}"/>
              </a:ext>
            </a:extLst>
          </p:cNvPr>
          <p:cNvSpPr/>
          <p:nvPr/>
        </p:nvSpPr>
        <p:spPr>
          <a:xfrm>
            <a:off x="809506" y="2331006"/>
            <a:ext cx="759356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Relying on memory or scattered notes leads to data loss; all library information must be stored in a secure, relational database.</a:t>
            </a:r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5C5B0DEB-06FF-8683-3932-829AB964456F}"/>
              </a:ext>
            </a:extLst>
          </p:cNvPr>
          <p:cNvSpPr/>
          <p:nvPr/>
        </p:nvSpPr>
        <p:spPr>
          <a:xfrm>
            <a:off x="558522" y="3183493"/>
            <a:ext cx="8026956" cy="1220510"/>
          </a:xfrm>
          <a:prstGeom prst="roundRect">
            <a:avLst>
              <a:gd name="adj" fmla="val 8990"/>
            </a:avLst>
          </a:prstGeom>
          <a:noFill/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3A6CFDE6-34CC-5D19-48D3-7F2E0B9E7C6E}"/>
              </a:ext>
            </a:extLst>
          </p:cNvPr>
          <p:cNvSpPr/>
          <p:nvPr/>
        </p:nvSpPr>
        <p:spPr>
          <a:xfrm>
            <a:off x="535662" y="3183493"/>
            <a:ext cx="91440" cy="1220510"/>
          </a:xfrm>
          <a:prstGeom prst="roundRect">
            <a:avLst>
              <a:gd name="adj" fmla="val 73303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4BFDAA7D-038D-0E44-B275-117FA92C3E7C}"/>
              </a:ext>
            </a:extLst>
          </p:cNvPr>
          <p:cNvSpPr/>
          <p:nvPr/>
        </p:nvSpPr>
        <p:spPr>
          <a:xfrm>
            <a:off x="809506" y="3365897"/>
            <a:ext cx="3000851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Avoid Mandatory Manual Entry</a:t>
            </a: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16D7C197-0A82-4F88-495B-80CC941FA777}"/>
              </a:ext>
            </a:extLst>
          </p:cNvPr>
          <p:cNvSpPr/>
          <p:nvPr/>
        </p:nvSpPr>
        <p:spPr>
          <a:xfrm>
            <a:off x="809506" y="3711059"/>
            <a:ext cx="759356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Forcing users to type metadata leads to inconsistent data and duplicates; always prioritize automated fetching.</a:t>
            </a: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D78C018A-01F8-EF8C-F1B2-59A0AD2A8BDF}"/>
              </a:ext>
            </a:extLst>
          </p:cNvPr>
          <p:cNvSpPr/>
          <p:nvPr/>
        </p:nvSpPr>
        <p:spPr>
          <a:xfrm>
            <a:off x="558522" y="4563547"/>
            <a:ext cx="8026956" cy="1220510"/>
          </a:xfrm>
          <a:prstGeom prst="roundRect">
            <a:avLst>
              <a:gd name="adj" fmla="val 8990"/>
            </a:avLst>
          </a:prstGeom>
          <a:noFill/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BC9C6A1B-54D6-24B5-D2FC-B4BEBEC35A93}"/>
              </a:ext>
            </a:extLst>
          </p:cNvPr>
          <p:cNvSpPr/>
          <p:nvPr/>
        </p:nvSpPr>
        <p:spPr>
          <a:xfrm>
            <a:off x="535662" y="4563547"/>
            <a:ext cx="91440" cy="1220510"/>
          </a:xfrm>
          <a:prstGeom prst="roundRect">
            <a:avLst>
              <a:gd name="adj" fmla="val 73303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CC49A27F-47C1-13DF-5BC2-C706D38DF62A}"/>
              </a:ext>
            </a:extLst>
          </p:cNvPr>
          <p:cNvSpPr/>
          <p:nvPr/>
        </p:nvSpPr>
        <p:spPr>
          <a:xfrm>
            <a:off x="809506" y="4745950"/>
            <a:ext cx="2813566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Never Neglect Loan Tracking</a:t>
            </a: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B8E495AC-3EBF-5EF3-FB57-A2DFEC6F1704}"/>
              </a:ext>
            </a:extLst>
          </p:cNvPr>
          <p:cNvSpPr/>
          <p:nvPr/>
        </p:nvSpPr>
        <p:spPr>
          <a:xfrm>
            <a:off x="809506" y="5091112"/>
            <a:ext cx="759356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Untracked loans are a primary pain point; a system must always include a dedicated mechanism for tracking borrowers and due dates.</a:t>
            </a:r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C2786706-C102-F552-DA34-7843CFCB92A8}"/>
              </a:ext>
            </a:extLst>
          </p:cNvPr>
          <p:cNvSpPr/>
          <p:nvPr/>
        </p:nvSpPr>
        <p:spPr>
          <a:xfrm>
            <a:off x="558522" y="5943600"/>
            <a:ext cx="8026956" cy="1220510"/>
          </a:xfrm>
          <a:prstGeom prst="roundRect">
            <a:avLst>
              <a:gd name="adj" fmla="val 8990"/>
            </a:avLst>
          </a:prstGeom>
          <a:noFill/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7D8A1414-708C-27A2-C767-01B1640EDB6E}"/>
              </a:ext>
            </a:extLst>
          </p:cNvPr>
          <p:cNvSpPr/>
          <p:nvPr/>
        </p:nvSpPr>
        <p:spPr>
          <a:xfrm>
            <a:off x="535662" y="5943600"/>
            <a:ext cx="91440" cy="1220510"/>
          </a:xfrm>
          <a:prstGeom prst="roundRect">
            <a:avLst>
              <a:gd name="adj" fmla="val 73303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183D49D5-5996-15C3-099C-185B19702C9F}"/>
              </a:ext>
            </a:extLst>
          </p:cNvPr>
          <p:cNvSpPr/>
          <p:nvPr/>
        </p:nvSpPr>
        <p:spPr>
          <a:xfrm>
            <a:off x="809506" y="6126004"/>
            <a:ext cx="2898219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</a:rPr>
              <a:t>Avoid Monolithic Architecture</a:t>
            </a: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D7C4F901-6C43-D803-6C84-36FCE1D13F4A}"/>
              </a:ext>
            </a:extLst>
          </p:cNvPr>
          <p:cNvSpPr/>
          <p:nvPr/>
        </p:nvSpPr>
        <p:spPr>
          <a:xfrm>
            <a:off x="809506" y="6471166"/>
            <a:ext cx="759356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Do not bundle all features into a single codebase; a modular "subsystem decomposition" is necessary to prevent the system from becoming unmanageable.</a:t>
            </a:r>
          </a:p>
        </p:txBody>
      </p:sp>
    </p:spTree>
    <p:extLst>
      <p:ext uri="{BB962C8B-B14F-4D97-AF65-F5344CB8AC3E}">
        <p14:creationId xmlns:p14="http://schemas.microsoft.com/office/powerpoint/2010/main" val="200673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409" y="685508"/>
            <a:ext cx="5925979" cy="518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Inter Bold" pitchFamily="34" charset="-122"/>
                <a:cs typeface="Inter Bold" pitchFamily="34" charset="-120"/>
              </a:rPr>
              <a:t>Future Scope and Conclusion</a:t>
            </a:r>
            <a:endParaRPr lang="en-US" sz="4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836" y="1964455"/>
            <a:ext cx="2993112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Forward-Looking Design</a:t>
            </a:r>
            <a:endParaRPr lang="en-US" sz="2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2836" y="2441301"/>
            <a:ext cx="6532364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PLMS is designed to be technology-agnostic and modular, creating a robust foundation for future expansions.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82836" y="3121147"/>
            <a:ext cx="6532364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Features:</a:t>
            </a:r>
            <a:r>
              <a:rPr lang="en-US" sz="13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Features such as tagging, reporting, and social sharing integrations can be added based on user requests.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82836" y="3709673"/>
            <a:ext cx="6532364" cy="53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Support:</a:t>
            </a:r>
            <a:r>
              <a:rPr lang="en-US" sz="13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Potential for expansion to different platforms such as mobile applications and desktop clients.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82836" y="4298199"/>
            <a:ext cx="6532364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Development:</a:t>
            </a:r>
            <a:r>
              <a:rPr lang="en-US" sz="13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Providing an API for integration with other applications.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107" y="1409819"/>
            <a:ext cx="6532364" cy="65323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9389" y="8501896"/>
            <a:ext cx="13220462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PLMS transforms a complex personal library into a structured, easy-to-manage, and enjoyable digital collection.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0549" y="8315325"/>
            <a:ext cx="22860" cy="638413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saat, renklil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0F777CF-310E-BCF3-ECEA-FB82E9DA6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209" y="-703436"/>
            <a:ext cx="5393933" cy="9313180"/>
          </a:xfrm>
          <a:prstGeom prst="rect">
            <a:avLst/>
          </a:prstGeom>
        </p:spPr>
      </p:pic>
      <p:graphicFrame>
        <p:nvGraphicFramePr>
          <p:cNvPr id="6" name="Tablo 5">
            <a:extLst>
              <a:ext uri="{FF2B5EF4-FFF2-40B4-BE49-F238E27FC236}">
                <a16:creationId xmlns:a16="http://schemas.microsoft.com/office/drawing/2014/main" id="{D6BEB4E9-73B9-F5CA-480A-25FBECE89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033504"/>
              </p:ext>
            </p:extLst>
          </p:nvPr>
        </p:nvGraphicFramePr>
        <p:xfrm>
          <a:off x="1145628" y="2187417"/>
          <a:ext cx="7273158" cy="35314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5592">
                  <a:extLst>
                    <a:ext uri="{9D8B030D-6E8A-4147-A177-3AD203B41FA5}">
                      <a16:colId xmlns:a16="http://schemas.microsoft.com/office/drawing/2014/main" val="1513244450"/>
                    </a:ext>
                  </a:extLst>
                </a:gridCol>
                <a:gridCol w="1556744">
                  <a:extLst>
                    <a:ext uri="{9D8B030D-6E8A-4147-A177-3AD203B41FA5}">
                      <a16:colId xmlns:a16="http://schemas.microsoft.com/office/drawing/2014/main" val="2956088061"/>
                    </a:ext>
                  </a:extLst>
                </a:gridCol>
                <a:gridCol w="1595115">
                  <a:extLst>
                    <a:ext uri="{9D8B030D-6E8A-4147-A177-3AD203B41FA5}">
                      <a16:colId xmlns:a16="http://schemas.microsoft.com/office/drawing/2014/main" val="3264828885"/>
                    </a:ext>
                  </a:extLst>
                </a:gridCol>
                <a:gridCol w="1715707">
                  <a:extLst>
                    <a:ext uri="{9D8B030D-6E8A-4147-A177-3AD203B41FA5}">
                      <a16:colId xmlns:a16="http://schemas.microsoft.com/office/drawing/2014/main" val="4261400902"/>
                    </a:ext>
                  </a:extLst>
                </a:gridCol>
              </a:tblGrid>
              <a:tr h="395398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200" u="sng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Student</a:t>
                      </a:r>
                      <a:r>
                        <a:rPr lang="tr-TR" sz="1200" u="sng" dirty="0">
                          <a:solidFill>
                            <a:sysClr val="windowText" lastClr="000000"/>
                          </a:solidFill>
                          <a:effectLst/>
                        </a:rPr>
                        <a:t> Name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200" u="sng">
                          <a:solidFill>
                            <a:sysClr val="windowText" lastClr="000000"/>
                          </a:solidFill>
                          <a:effectLst/>
                        </a:rPr>
                        <a:t>RAD</a:t>
                      </a:r>
                      <a:endParaRPr lang="tr-TR" sz="1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200" u="sng">
                          <a:solidFill>
                            <a:sysClr val="windowText" lastClr="000000"/>
                          </a:solidFill>
                          <a:effectLst/>
                        </a:rPr>
                        <a:t>SDD</a:t>
                      </a:r>
                      <a:endParaRPr lang="tr-TR" sz="1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200" u="sng">
                          <a:solidFill>
                            <a:sysClr val="windowText" lastClr="000000"/>
                          </a:solidFill>
                          <a:effectLst/>
                        </a:rPr>
                        <a:t>Implementation</a:t>
                      </a:r>
                      <a:endParaRPr lang="tr-TR" sz="110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939658"/>
                  </a:ext>
                </a:extLst>
              </a:tr>
              <a:tr h="747868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Yiğit Doğan Aladağ 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25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70133"/>
                  </a:ext>
                </a:extLst>
              </a:tr>
              <a:tr h="747868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Ömer Fehmi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Çakıcı</a:t>
                      </a:r>
                      <a:r>
                        <a:rPr lang="en-US" sz="12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25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 25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 30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816688"/>
                  </a:ext>
                </a:extLst>
              </a:tr>
              <a:tr h="736571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Muhammet Furkan 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Yılgın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 25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 20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944378"/>
                  </a:ext>
                </a:extLst>
              </a:tr>
              <a:tr h="903768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Yusuf Aslanargun</a:t>
                      </a:r>
                      <a:r>
                        <a:rPr lang="en-US" sz="12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 25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</a:pPr>
                      <a:r>
                        <a:rPr lang="tr-TR" sz="1400" dirty="0">
                          <a:solidFill>
                            <a:sysClr val="windowText" lastClr="000000"/>
                          </a:solidFill>
                          <a:effectLst/>
                        </a:rPr>
                        <a:t> 20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51451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2260759F-A83C-28EC-B9B7-0718308E8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590" y="2123474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ECF45876-1C31-3229-DB24-ABA670D6D535}"/>
              </a:ext>
            </a:extLst>
          </p:cNvPr>
          <p:cNvSpPr/>
          <p:nvPr/>
        </p:nvSpPr>
        <p:spPr>
          <a:xfrm>
            <a:off x="2418853" y="1075080"/>
            <a:ext cx="5466040" cy="498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00"/>
              </a:lnSpc>
            </a:pPr>
            <a:r>
              <a:rPr lang="tr-TR" sz="4000" b="1" dirty="0">
                <a:solidFill>
                  <a:schemeClr val="bg1"/>
                </a:solidFill>
                <a:latin typeface="+mj-lt"/>
                <a:ea typeface="Inter Bold" pitchFamily="34" charset="-122"/>
              </a:rPr>
              <a:t>Team </a:t>
            </a:r>
            <a:r>
              <a:rPr lang="tr-TR" sz="4000" b="1" dirty="0" err="1">
                <a:solidFill>
                  <a:schemeClr val="bg1"/>
                </a:solidFill>
                <a:latin typeface="+mj-lt"/>
                <a:ea typeface="Inter Bold" pitchFamily="34" charset="-122"/>
              </a:rPr>
              <a:t>Contributions</a:t>
            </a:r>
            <a:endParaRPr lang="en-US" sz="4000" b="1" dirty="0">
              <a:solidFill>
                <a:schemeClr val="bg1"/>
              </a:solidFill>
              <a:latin typeface="+mj-lt"/>
              <a:ea typeface="Inter Bold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9472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4546" y="738588"/>
            <a:ext cx="95013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Digitize Your Collection with PLMS</a:t>
            </a:r>
            <a:endParaRPr lang="en-US" sz="4450" dirty="0">
              <a:solidFill>
                <a:schemeClr val="bg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49" y="2139433"/>
            <a:ext cx="4221599" cy="272188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399" y="2139433"/>
            <a:ext cx="4221599" cy="272188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449" y="2139433"/>
            <a:ext cx="4221599" cy="272188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5A17F990-1FAB-DE95-8337-BCF7C80DEBF8}"/>
              </a:ext>
            </a:extLst>
          </p:cNvPr>
          <p:cNvSpPr/>
          <p:nvPr/>
        </p:nvSpPr>
        <p:spPr>
          <a:xfrm>
            <a:off x="2564546" y="5553387"/>
            <a:ext cx="95013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tr-TR" sz="4450" b="1" dirty="0" err="1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Thank</a:t>
            </a:r>
            <a:r>
              <a:rPr lang="tr-TR" sz="44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tr-TR" sz="4450" b="1" dirty="0" err="1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You</a:t>
            </a:r>
            <a:r>
              <a:rPr lang="tr-TR" sz="44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tr-TR" sz="4450" b="1" dirty="0" err="1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For</a:t>
            </a:r>
            <a:r>
              <a:rPr lang="tr-TR" sz="4450" b="1" dirty="0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tr-TR" sz="4450" b="1" dirty="0" err="1">
                <a:solidFill>
                  <a:schemeClr val="bg1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Listening</a:t>
            </a:r>
            <a:endParaRPr lang="en-US" sz="44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lim">
  <a:themeElements>
    <a:clrScheme name="Dilim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Dilim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lim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TM02900771[[fn=Dilim]]</Template>
  <TotalTime>407</TotalTime>
  <Words>1022</Words>
  <Application>Microsoft Office PowerPoint</Application>
  <PresentationFormat>Özel</PresentationFormat>
  <Paragraphs>146</Paragraphs>
  <Slides>14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21" baseType="lpstr">
      <vt:lpstr>Wingdings 3</vt:lpstr>
      <vt:lpstr>Times New Roman</vt:lpstr>
      <vt:lpstr>Inter</vt:lpstr>
      <vt:lpstr>Aptos</vt:lpstr>
      <vt:lpstr>Arial</vt:lpstr>
      <vt:lpstr>Century Gothic</vt:lpstr>
      <vt:lpstr>Dilim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YUSUF ASLANARGUN</cp:lastModifiedBy>
  <cp:revision>12</cp:revision>
  <dcterms:created xsi:type="dcterms:W3CDTF">2025-12-30T02:05:33Z</dcterms:created>
  <dcterms:modified xsi:type="dcterms:W3CDTF">2026-01-09T19:40:20Z</dcterms:modified>
</cp:coreProperties>
</file>